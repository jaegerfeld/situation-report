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0"/>
            <a:ext cx="115516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SituationReport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77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CF0F1"/>
                </a:solidFill>
              </a:rPr>
              <a:t>Flow-Metriken für Release Train Engineers und Scrum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2880360"/>
            <a:ext cx="5029200" cy="457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Praktische Anleitung  ·  Alle Metriken erklärt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0080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Version 0.9.0  ·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Der Ablauf — vom Jira-Export zum Bericht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86687" y="1463040"/>
            <a:ext cx="201168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59839" y="1536192"/>
            <a:ext cx="18836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📥 Jira
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4087" y="1545336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855567" y="1463040"/>
            <a:ext cx="20116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28719" y="1536192"/>
            <a:ext cx="18836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🔧 Helper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5567" y="2304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</a:rPr>
              <a:t>(optional)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2967" y="1545336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463040"/>
            <a:ext cx="2011680" cy="8229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7599" y="1536192"/>
            <a:ext cx="18836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🔄 Transform
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847" y="1545336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3327" y="1463040"/>
            <a:ext cx="20116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6479" y="1536192"/>
            <a:ext cx="188366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📊 Build
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6687" y="2514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Jira → Board als JSON exportieren.
Bei &gt; 1.000 Issues: mehrere
Dateien nötig.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5567" y="2514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Nur bei mehreren
Exportdateien:
zusammenführen.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514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JSON + Workflow-Datei
einlesen → drei
Excel-Tabellen erzeugen.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3327" y="2514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Excel-Tabellen laden
→ Diagramme und PDF
erzeugen.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10896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246120"/>
            <a:ext cx="115516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980B9"/>
                </a:solidFill>
              </a:rPr>
              <a:t>Tipp: Für den ersten Test den Testdata Generator nutzen — erzeugt realistische Daten ohne echte Jira-Exporte.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Typische Workflow-Datei (eine Stage pro Zeile):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87952"/>
            <a:ext cx="5029200" cy="237744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79392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Funnel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2C3E50"/>
                </a:solidFill>
              </a:rPr>
              <a:t>Analysis:In Analysis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2C3E50"/>
                </a:solidFill>
              </a:rPr>
              <a:t>Implementation:In Progress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2C3E50"/>
                </a:solidFill>
              </a:rPr>
              <a:t>Done:Canceled</a:t>
            </a:r>
          </a:p>
          <a:p>
            <a:pPr algn="l">
              <a:spcBef>
                <a:spcPts val="300"/>
              </a:spcBef>
            </a:pPr>
            <a:r>
              <a:rPr sz="1200" b="0" i="1">
                <a:solidFill>
                  <a:srgbClr val="2C3E50"/>
                </a:solidFill>
              </a:rPr>
              <a:t>&lt;First&gt;Analysis</a:t>
            </a:r>
          </a:p>
          <a:p>
            <a:pPr algn="l">
              <a:spcBef>
                <a:spcPts val="300"/>
              </a:spcBef>
            </a:pPr>
            <a:r>
              <a:rPr sz="1200" b="0" i="1">
                <a:solidFill>
                  <a:srgbClr val="2C3E50"/>
                </a:solidFill>
              </a:rPr>
              <a:t>&lt;Closed&gt;Done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187952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Stage:Alias — mehrere Jira-Status auf eine Stage mappen
&lt;First&gt;/&lt;Closed&gt; — markieren Beginn/Ende der Messung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Transform Data — Rohdaten in strukturierte Tabellen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Eingaben: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47472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746504"/>
            <a:ext cx="3310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Jira-JSON-Export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03120"/>
            <a:ext cx="3474720" cy="5943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176272"/>
            <a:ext cx="3310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Die aus Jira exportierte Datei mit allen Issues und ihrer Änderungshistorie.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88920"/>
            <a:ext cx="347472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843784"/>
            <a:ext cx="33101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 Workflow-Datei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00400"/>
            <a:ext cx="3474720" cy="5943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273552"/>
            <a:ext cx="3310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Textdatei mit den Stage-Namen des Projekts und der Markierung für Start/Ende der Messung.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325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Ausgaben: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691640"/>
            <a:ext cx="77724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746504"/>
            <a:ext cx="7607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IssueTimes.xlsx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103120"/>
            <a:ext cx="7772400" cy="10515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176272"/>
            <a:ext cx="76078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Eine Zeile pro Aufgabe.
Enthält: Erstellt / First Date / Closed Date sowie die Zeit (in Minuten) in jeder Stage.
Grundlage für alle Build-Reports-Metriken.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337560"/>
            <a:ext cx="777240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392424"/>
            <a:ext cx="7607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Transitions.xlsx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749040"/>
            <a:ext cx="7772400" cy="10515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822192"/>
            <a:ext cx="76078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Vollständiges Statuswechsel-Protokoll.
Jede Statusänderung jeder Aufgabe mit Zeitstempel.
Nützlich für manuelle Analysen.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983480"/>
            <a:ext cx="77724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5038344"/>
            <a:ext cx="7607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CFD.xlsx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394960"/>
            <a:ext cx="7772400" cy="10515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5468112"/>
            <a:ext cx="76078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Tägliche Eintrittszählungen je Stage.
Grundlage für das
Cumulative Flow Diagram.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Build Reports — Fünf Metriken, ein Klick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IssueTimes.xlsx laden → Metriken auswählen → Berichte erstellen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37360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164592" cy="7498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59" y="1792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Flow Time  /  Cycle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21214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Durchlaufzeit je Aufgabe (Boxplot + Scatterplot mit Trend)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15184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615184"/>
            <a:ext cx="164592" cy="74980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" y="2670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Flow Velocity  /  Throughput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59" y="2999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Abschlüsse pro Tag, Woche und Planning Interval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93008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493008"/>
            <a:ext cx="164592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Flow Load  /  WIP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59" y="3877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Aktuelle offene Aufgaben je Stage mit Alter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70831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370831"/>
            <a:ext cx="164592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59" y="442569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Cumulative Flow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59" y="47548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Kumulierter Fluss aller Issues über Zeit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248656"/>
            <a:ext cx="11551615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248656"/>
            <a:ext cx="164592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59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Flow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59" y="56327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Verteilung nach Typ, Stage-Dominanz, CT je Typ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217920"/>
            <a:ext cx="11551615" cy="36576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26364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Terminologie umschaltbar: SAFe (Flow Time, Flow Velocity, Flow Load) ↔ Global (Cycle Time, Throughput, WIP)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Flow Time / Cycle Time — Wie lange dauert eine Aufgabe?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Messung: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27632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Von First Date (erste Aktivität) bis Closed Date (Abschluss) — in Kalendertagen.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5740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11226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Boxplot — Verteilung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5669280" cy="2331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542032"/>
            <a:ext cx="550468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Zeigt, wie breit gestreut die Zeiten sind.
Enge Box = vorhersagbar.
Breite Box = unvorhersagbar.
Header-Statistiken: Min / Q1 / Median / Ø / Q3 / Max
90d CT% = Anteil der Aufgaben ≤ 90 Tage.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5740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11226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⚫  Scatterplot — Verlauf über Zeit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468880"/>
            <a:ext cx="5669280" cy="2331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542032"/>
            <a:ext cx="550468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Jeder Punkt = eine abgeschlossene Aufgabe.
Farben: rot = sehr langsam, orange = überdurchschnittlich, blau = normal.
Referenzlinien: Median (rot), P85 (grün), P95 (cyan).
Trendlinie (blau) zeigt, ob das Team schneller oder langsamer wird.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93776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074920"/>
            <a:ext cx="115516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P85-Linie (85. Perzentil) = 85 % aller Aufgaben waren schneller als dieser Wert.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Faustregel: P85 als Service Level Expectation (SLE) kommunizieren.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Trendlinie zeigt Verbesserung/Verschlechterung über Zeit — früher erkennbar als Durchschnittswerte.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Flow Velocity / Throughput — Wie viele Aufgaben werden fertig?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Messung: Anzahl abgeschlossener Aufgaben (mit Closed Date) pro Zeitraum.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37360"/>
            <a:ext cx="365760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792224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Tagesfrequenz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3657600" cy="251460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221991"/>
            <a:ext cx="349300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Wie viele Aufgaben werden
typischerweise an einem Tag
abgeschlossen?
Histogramm — zeigt die
Verteilung der Tagesabschlüsse.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37360"/>
            <a:ext cx="36576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792224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 Wochenverlauf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48840"/>
            <a:ext cx="3657600" cy="251460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2221991"/>
            <a:ext cx="349300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Wöchentliche Abschlüsse
als Linienchart.
Zeigt Schwankungen und
trend über Wochen und
Quartale.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737360"/>
            <a:ext cx="3657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792224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 PI-Verlauf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148840"/>
            <a:ext cx="3657600" cy="251460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221991"/>
            <a:ext cx="349300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Balkendiagramm pro
Planning Interval.
Mit Durchschnittslinie —
ideal für PI-Retrospektiven
und PI-Planning.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80060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11551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Im PI-Planning: historischen Durchsatz als Kapazitätsbasis nutzen (realistischer als Story Points).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Wochenverlauf zeigt, ob Urlaube, Feiertage oder andere Faktoren den Durchsatz beeinflussen.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Tipp: Filter auf bestimmte Issue-Typen setzen (z. B. nur 'Feature') für typ-spezifische Velocity.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Flow Load / WIP — Was läuft gerade?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Messung: Alle Aufgaben, die aktiv begonnen wurden (First Date gesetzt), aber noch nicht abgeschlossen sind.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19072"/>
            <a:ext cx="69494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773936"/>
            <a:ext cx="6784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Boxplot je 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30552"/>
            <a:ext cx="6949440" cy="251460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203704"/>
            <a:ext cx="678484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Zeigt alle laufenden Aufgaben je Bearbeitungsphase.
Y-Achse = Alter in Tagen (seit First Date).
Referenzlinien aus historischen Abschlüssen: Median, P85, Target CT.
Aufgaben über der P85-Linie: Aufmerksamkeit empfohlen — möglicherweise blockiert.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19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Was bedeutet es, wenn 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103120"/>
            <a:ext cx="4389120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1396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… viele Aufgaben in einer Stage alt werden: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4688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Engpass in dieser Phase — Kapazität prüfen.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971800"/>
            <a:ext cx="4389120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0083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… alle Stages voll sind: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Zu viel WIP — neue Arbeit zurückhalten, erst fertigstellen.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840479"/>
            <a:ext cx="4389120" cy="74980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38770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… einzelne Aufgaben extrem alt sind: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Blockade — konkrete Aufgabe prüfen.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80060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937760"/>
            <a:ext cx="11551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WIP-Limit: Je weniger Aufgaben gleichzeitig offen, desto schneller werden sie fertig (Little's Law).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To-Do-Aufgaben (kein First Date) und abgeschlossene werden ausgeblendet — nur aktive Arbeit sichtbar.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Cumulative Flow Diagram — Wie fließt die Arbeit?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Zeigt, wie viele Issues bis zu einem bestimmten Tag insgesamt in jede Stage eingetreten sind (kumuliert).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19072"/>
            <a:ext cx="69494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773936"/>
            <a:ext cx="6784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📉  Was man am CFD abliest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30552"/>
            <a:ext cx="6949440" cy="379475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203704"/>
            <a:ext cx="6784848" cy="3639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Breite der Bänder = durchschnittliche Durchlaufzeit.
→ Bänder werden breiter: Prozess verlangsamt sich.
→ Bänder werden schmaler: Team wird schneller.
Zwei Trendlinien:
• Obere Linie (Inflow): Issues, die in die aktive Arbeit eintreten.
• Untere Linie (Outflow): Issues, die abgeschlossen werden.
Inflow &gt; Outflow über Zeit: Warteschlange wächst.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19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Typische Muster: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103120"/>
            <a:ext cx="18288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3055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Gleichmäßige Bänder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4505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Stabiler, vorhersagbarer Prozess.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017520"/>
            <a:ext cx="18288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04495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Breiter werdende Bänder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649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Engpass aufgebaut — Outflow &lt; Inflow.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931920"/>
            <a:ext cx="18288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93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Plateau (keine Bewegung)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793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Work stoppage — Team blockiert.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846320"/>
            <a:ext cx="182880" cy="685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8737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Schmaler werdende Bänder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1937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Aufholjagd — Rückstand wird abgebaut.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Flow Distribution — Was arbeitet das Team?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Drei Diagramme zeigen die Zusammensetzung der Arbeit.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19072"/>
            <a:ext cx="36576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77393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🍩  By Issue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30552"/>
            <a:ext cx="3657600" cy="2788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203704"/>
            <a:ext cx="3493008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Kreisdiagramm: Anteil von Feature,
Bug, Enabler usw.
Frage: Wie viel Prozent unserer
Kapazität geht in Features,
wie viel in Bugfixes?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19072"/>
            <a:ext cx="36576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77393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🍩  Stage Prominence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30552"/>
            <a:ext cx="3657600" cy="2788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2203704"/>
            <a:ext cx="3493008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Kreisdiagramm: In welcher Stage
verbringen Aufgaben die meiste Zeit?
Frage: Wo ist unser eigentlicher
Engpass — auch wenn er nicht
offensichtlich ist?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719072"/>
            <a:ext cx="3657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77393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Avg Cycle Time by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130552"/>
            <a:ext cx="3657600" cy="27889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203704"/>
            <a:ext cx="3493008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Balkendiagramm: Durchschnittliche
Durchlaufzeit pro Aufgabentyp.
Frage: Dauern Features wirklich
länger als Bugs? Wie groß ist
der Unterschied?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07492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212080"/>
            <a:ext cx="115516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💡 Stage Prominence zeigt, wo Aufgaben wirklich stecken — unabhängig von Tickets-Anzahl je Stage.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💡 Filter auf abgeschlossene Issues: Stage Prominence zählt nur Phasen vor dem Abschluss-Status.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Filter, Templates und Konfiguration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Filter: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64208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Von / Bis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7830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Datumsfilter auf Closed Date — Standard: letzte 365 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22576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Projekte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4144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Kommagetrennte Projekt-Keys, z. B.  ARTA, ARTB  — leer = alle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80944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Issuetypen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099815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z. B.  Feature, Bug  — leer = alle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39312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12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Status-Ausschluss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5818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Issues mit bestimmten Status komplett ignorieren, z. B.  Canceled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97680"/>
            <a:ext cx="11551615" cy="566928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70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Zero-Day-Issues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4165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Issues mit CT &lt; Schwellwert (Standard: 5 min) ausschließen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029200"/>
            <a:ext cx="11551615" cy="54864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Templates: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504688"/>
            <a:ext cx="115516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3E50"/>
                </a:solidFill>
              </a:rPr>
              <a:t>● Optionen → Speichern… speichert die gesamte Konfiguration als JSON (Pfade, Filter, Metrikauswahl, Sprache).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2C3E50"/>
                </a:solidFill>
              </a:rPr>
              <a:t>● Optionen → Laden… stellt eine gespeicherte Konfiguration wieder her — ideal für regelmäßige Berichte.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Export — Browser, PDF, Excel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370332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80744"/>
            <a:ext cx="3538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Browser-Anzeige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3703320" cy="470915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810512"/>
            <a:ext cx="3538727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Alle Diagramme als kombiniertes HTML im Browser.
• Vollständig interaktiv: Zoom, Pan, Tooltip beim Hovern
• Legende ein-/ausblenden
• Kein PDF-Export nötig für interne Ansicht
Aktivieren: Button 'Berichte erstellen' in der GUI
CLI: --browser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25880"/>
            <a:ext cx="370332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380744"/>
            <a:ext cx="3538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PDF-Export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703320" cy="470915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810512"/>
            <a:ext cx="3538727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Alle ausgewählten Metriken in einem
mehrseitigen PDF.
• Automatisch: Report-Excel-Datei (.xlsx)
  mit allen gefilterten Issues
• Automatisch: Zero-Day-Issues.xlsx
  (wenn vorhanden)
CLI: --pdf report.pdf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325880"/>
            <a:ext cx="37033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380744"/>
            <a:ext cx="3538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Report-Excel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737360"/>
            <a:ext cx="3703320" cy="4709159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10512"/>
            <a:ext cx="3538727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Wird bei jedem PDF-Export automatisch erstellt.
Enthält alle gefilterten Issues mit:
• Status Group (To Do / In Progress / Done)
• Cycle Time Method A (Kalendertage)
• Cycle Time Method B (Stage-Minuten)
Ideal für eigene Auswertungen in Excel.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Tipps für den Alltag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807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Regelmäßiger Rhythmus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5669280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810512"/>
            <a:ext cx="550468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Einmal pro Sprint oder PI ein festes Template laden und Report generieren. Konsistenz macht Trends erst sichtbar.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6692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807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Zero-Day-Issues bereinigen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669280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10512"/>
            <a:ext cx="550468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Beim ersten Lauf Zero-Day-Ausschluss aktivieren und prüfen, welche Issues herausgefiltert werden. Diese Aufgaben sind meist Testtickets oder Fehler im Jira-Workflow.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5468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2095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P85 als Service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66160"/>
            <a:ext cx="5669280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639312"/>
            <a:ext cx="550468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Den P85-Wert (85. Perzentil der Flow Time) als Service Level Expectation (SLE) definieren: '85 % unserer Features sind in X Tagen fertig.'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669280" cy="4114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09544"/>
            <a:ext cx="5504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CFD im Standup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566160"/>
            <a:ext cx="5669280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639312"/>
            <a:ext cx="550468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Das CFD eignet sich gut als Standup-Artefakt: Sehen wir Staubildung? Ist der Abfluss stabil? Veränderungen werden oft im CFD sichtbar, bevor sie in Tickets auffallen.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983480"/>
            <a:ext cx="11551615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5038344"/>
            <a:ext cx="11387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Workflow-Datei pflegen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51615" cy="1188720"/>
          </a:xfrm>
          <a:prstGeom prst="rect">
            <a:avLst/>
          </a:prstGeom>
          <a:solidFill>
            <a:srgbClr val="ECF0F1"/>
          </a:solidFill>
          <a:ln w="9525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5468112"/>
            <a:ext cx="11387023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Wenn Jira-Status geändert werden, muss die Workflow-Datei aktualisiert werden. Sonst erscheinen Warnungen über nicht gemappte Status.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