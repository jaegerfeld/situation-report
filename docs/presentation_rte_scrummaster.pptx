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Seebauer" userId="4b6559d15ffbc389" providerId="LiveId" clId="{434A585C-F635-4090-8F82-8EDF2E501961}"/>
    <pc:docChg chg="modSld">
      <pc:chgData name="Robert Seebauer" userId="4b6559d15ffbc389" providerId="LiveId" clId="{434A585C-F635-4090-8F82-8EDF2E501961}" dt="2026-06-19T09:36:08.107" v="1" actId="1076"/>
      <pc:docMkLst>
        <pc:docMk/>
      </pc:docMkLst>
      <pc:sldChg chg="modSp mod">
        <pc:chgData name="Robert Seebauer" userId="4b6559d15ffbc389" providerId="LiveId" clId="{434A585C-F635-4090-8F82-8EDF2E501961}" dt="2026-06-19T09:35:53.822" v="0" actId="1076"/>
        <pc:sldMkLst>
          <pc:docMk/>
          <pc:sldMk cId="0" sldId="256"/>
        </pc:sldMkLst>
        <pc:spChg chg="mod">
          <ac:chgData name="Robert Seebauer" userId="4b6559d15ffbc389" providerId="LiveId" clId="{434A585C-F635-4090-8F82-8EDF2E501961}" dt="2026-06-19T09:35:53.822" v="0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Robert Seebauer" userId="4b6559d15ffbc389" providerId="LiveId" clId="{434A585C-F635-4090-8F82-8EDF2E501961}" dt="2026-06-19T09:36:08.107" v="1" actId="1076"/>
        <pc:sldMkLst>
          <pc:docMk/>
          <pc:sldMk cId="0" sldId="260"/>
        </pc:sldMkLst>
        <pc:spChg chg="mod">
          <ac:chgData name="Robert Seebauer" userId="4b6559d15ffbc389" providerId="LiveId" clId="{434A585C-F635-4090-8F82-8EDF2E501961}" dt="2026-06-19T09:36:08.107" v="1" actId="1076"/>
          <ac:spMkLst>
            <pc:docMk/>
            <pc:sldMk cId="0" sldId="260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0"/>
            <a:ext cx="115516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SituationReport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25980"/>
            <a:ext cx="115516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CF0F1"/>
                </a:solidFill>
              </a:rPr>
              <a:t>Flow-Metriken für Release Train Engineers und Scrum Master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2880360"/>
            <a:ext cx="5029200" cy="457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616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Praktische Anleitung  ·  Alle Metriken erklärt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00800"/>
            <a:ext cx="11551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Version 0.14.3  · 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Der Launcher — Einstiegspunkt für alle Module</a:t>
            </a:r>
          </a:p>
        </p:txBody>
      </p:sp>
      <p:pic>
        <p:nvPicPr>
          <p:cNvPr id="4" name="Picture 3" descr="Launcher-G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999" y="1371600"/>
            <a:ext cx="342112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371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Vier Module heute verfügbar: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83080"/>
            <a:ext cx="5212080" cy="438912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66560" y="1837943"/>
            <a:ext cx="822960" cy="3383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187451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1856231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Transform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286000"/>
            <a:ext cx="5212080" cy="438912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6560" y="2340864"/>
            <a:ext cx="822960" cy="3383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2377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3591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Build Reports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788920"/>
            <a:ext cx="5212080" cy="438912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66560" y="2843784"/>
            <a:ext cx="822960" cy="3383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2880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28620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Testdata Generator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291840"/>
            <a:ext cx="5212080" cy="438912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66560" y="3346704"/>
            <a:ext cx="822960" cy="3383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3383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ALPHA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33649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Helper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4023360"/>
            <a:ext cx="5212080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41605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Oberflächensprache (Flagge oben rechts):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48056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3E50"/>
                </a:solidFill>
              </a:rPr>
              <a:t>● Klick schaltet durch 5 Sprachen: DE · EN · RO · PT · FR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● Auswahl wird in prefs.json gespeichert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● Englisch ist seit v0.13.0 die Standard-Sprache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Der Ablauf — vom Jira-Export zum Bericht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86687" y="1463040"/>
            <a:ext cx="2011680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59839" y="1536192"/>
            <a:ext cx="188366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📥 Jira
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4087" y="1545336"/>
            <a:ext cx="365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855567" y="1463040"/>
            <a:ext cx="201168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28719" y="1536192"/>
            <a:ext cx="188366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🔧 Helper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5567" y="23042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</a:rPr>
              <a:t>(optional)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2967" y="1545336"/>
            <a:ext cx="365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463040"/>
            <a:ext cx="2011680" cy="8229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97599" y="1536192"/>
            <a:ext cx="188366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🔄 Transform
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1847" y="1545336"/>
            <a:ext cx="365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93327" y="1463040"/>
            <a:ext cx="201168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6479" y="1536192"/>
            <a:ext cx="188366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📊 Build
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6687" y="2514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Jira → Board als JSON exportieren.
Bei &gt; 1.000 Issues: mehrere
Dateien nötig.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5567" y="2514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Nur bei mehreren
Exportdateien:
zusammenführen.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2514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JSON + Workflow-Datei
einlesen → drei
Excel-Tabellen erzeugen.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3327" y="2514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Excel-Tabellen laden
→ Diagramme und PDF
erzeugen.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108960"/>
            <a:ext cx="11551615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3246120"/>
            <a:ext cx="115516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980B9"/>
                </a:solidFill>
              </a:rPr>
              <a:t>Tipp: Testdata Generator nutzt 'Create Report' (v0.12.0) und erzeugt Schritt 3+4 in einem Klick — ideal fuer den ersten Test.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Beispiel-Workflow-Datei (eine Stage pro Zeile):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87952"/>
            <a:ext cx="5029200" cy="237744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279392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Funnel:New:Open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2C3E50"/>
                </a:solidFill>
              </a:rPr>
              <a:t>Analysis:In Analysis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2C3E50"/>
                </a:solidFill>
              </a:rPr>
              <a:t>Implementation:In Progress:In Review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2C3E50"/>
                </a:solidFill>
              </a:rPr>
              <a:t>Done:Closed</a:t>
            </a:r>
          </a:p>
          <a:p>
            <a:pPr algn="l">
              <a:spcBef>
                <a:spcPts val="300"/>
              </a:spcBef>
            </a:pPr>
            <a:r>
              <a:rPr sz="1200" b="0" i="1">
                <a:solidFill>
                  <a:srgbClr val="2C3E50"/>
                </a:solidFill>
              </a:rPr>
              <a:t>&lt;First&gt;Analysis</a:t>
            </a:r>
          </a:p>
          <a:p>
            <a:pPr algn="l">
              <a:spcBef>
                <a:spcPts val="300"/>
              </a:spcBef>
            </a:pPr>
            <a:r>
              <a:rPr sz="1200" b="0" i="1">
                <a:solidFill>
                  <a:srgbClr val="2C3E50"/>
                </a:solidFill>
              </a:rPr>
              <a:t>&lt;InProgress&gt;Implementation</a:t>
            </a:r>
          </a:p>
          <a:p>
            <a:pPr algn="l">
              <a:spcBef>
                <a:spcPts val="300"/>
              </a:spcBef>
            </a:pPr>
            <a:r>
              <a:rPr sz="1200" b="0" i="1">
                <a:solidFill>
                  <a:srgbClr val="2C3E50"/>
                </a:solidFill>
              </a:rPr>
              <a:t>&lt;Closed&gt;Done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187952"/>
            <a:ext cx="6400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Stage:Alias — mehrere Jira-Status auf eine Stage mappen.
&lt;First&gt;/&lt;InProgress&gt;/&lt;Closed&gt; — markieren Beginn, aktive Phase
und Ende der Messung.
(Quelle: tests/testdata/fixtures/workflow_simple.txt)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Transform Data — Rohdaten in strukturierte Tabellen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25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Eingaben: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347472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746504"/>
            <a:ext cx="3310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📄  Jira-JSON-Export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03120"/>
            <a:ext cx="3474720" cy="5943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2176272"/>
            <a:ext cx="33101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Die aus Jira exportierte Datei mit allen Issues und ihrer Änderungshistorie.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788920"/>
            <a:ext cx="347472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2843784"/>
            <a:ext cx="3310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📝  Workflow-Datei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200400"/>
            <a:ext cx="3474720" cy="5943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3273552"/>
            <a:ext cx="33101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Textdatei mit den Stage-Namen des Projekts und der Markierung für Start/Ende der Messung.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3258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Ausgaben: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691640"/>
            <a:ext cx="77724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1746504"/>
            <a:ext cx="7607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IssueTimes.xlsx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103120"/>
            <a:ext cx="7772400" cy="10515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0" y="2176272"/>
            <a:ext cx="76078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Eine Zeile pro Aufgabe.
Enthält: Erstellt / First Date / Closed Date sowie die Zeit (in Minuten) in jeder Stage.
Grundlage für alle Build-Reports-Metriken.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3337560"/>
            <a:ext cx="7772400" cy="4114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3392424"/>
            <a:ext cx="7607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Transitions.xlsx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749040"/>
            <a:ext cx="7772400" cy="10515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0" y="3822192"/>
            <a:ext cx="76078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Vollständiges Statuswechsel-Protokoll.
Jede Statusänderung jeder Aufgabe mit Zeitstempel.
Nützlich für manuelle Analysen.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983480"/>
            <a:ext cx="77724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0" y="5038344"/>
            <a:ext cx="7607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CFD.xlsx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5394960"/>
            <a:ext cx="7772400" cy="10515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0" y="5468112"/>
            <a:ext cx="76078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Tägliche Eintrittszählungen je Stage.
Grundlage für das
Cumulative Flow Diagram.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977639"/>
            <a:ext cx="3474720" cy="246888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🤝  Hand-over (v0.14.0)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Nach erfolgreichem Lauf öffnet der
'Open in build_reports'-Button das
nächste Modul mit allen drei XLSX +
Workflow bereits vorbefüllt.
Details: siehe nächste Folie.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Hand-over: transform_data → build_reports (v0.14.0)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Einbahnstraßen-Übergabe in drei Schritten: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783080"/>
            <a:ext cx="3657600" cy="1554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35000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Transform läuft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743200"/>
            <a:ext cx="3456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transform_data erzeugt IssueTimes,
Transitions und CFD wie gewohnt.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4779" y="2318004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783080"/>
            <a:ext cx="3657600" cy="15544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61688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235000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Open in build_reports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743200"/>
            <a:ext cx="3456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Neuer Button schreibt die drei XLSX
+ Workflow in eine temporäre Template-
Datei und startet build_reports.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3317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783080"/>
            <a:ext cx="3657600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7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235000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Vorbefüllt starten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7" y="2743200"/>
            <a:ext cx="3456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build_reports öffnet sich mit allen
Dateien, PI-Konfig, Filtern und
Metrik-Auswahl bereits gesetzt.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703320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CLI-Äquivalent für eigene Skripte: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041648"/>
            <a:ext cx="11551615" cy="64008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16052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python -m build_reports --gui-template handover.json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937760"/>
            <a:ext cx="11551615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5074920"/>
            <a:ext cx="115516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3E50"/>
                </a:solidFill>
              </a:rPr>
              <a:t>💡 Aktuell einseitige Hand-over (transform_data → build_reports).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C3E50"/>
                </a:solidFill>
              </a:rPr>
              <a:t>💡 Wenn in transform_data ein Project-Template geladen ist, werden dessen build_reports-Einstellungen (PI, Filter, Metriken) mit übergeben.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2C3E50"/>
                </a:solidFill>
              </a:rPr>
              <a:t>💡 Weitere Modul-Paare folgen — siehe Roadmap.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Build Reports — Fünf Metriken, ein Klick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551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IssueTimes.xlsx laden → Metriken auswählen → Berichte erstellen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737360"/>
            <a:ext cx="11551615" cy="74980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737360"/>
            <a:ext cx="164592" cy="7498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59" y="17922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Flow Time  /  Cycle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59" y="21214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Durchlaufzeit je Aufgabe (Boxplot + Scatterplot mit Trend)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15184"/>
            <a:ext cx="11551615" cy="74980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615184"/>
            <a:ext cx="164592" cy="74980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59" y="26700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Flow Velocity  /  Throughput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59" y="2999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Abschlüsse pro Tag, Woche und Planning Interval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493008"/>
            <a:ext cx="11551615" cy="74980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3493008"/>
            <a:ext cx="164592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59" y="3547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Flow Load  /  WIP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59" y="38770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Aktuelle offene Aufgaben je Stage mit Alter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370831"/>
            <a:ext cx="11551615" cy="74980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4370831"/>
            <a:ext cx="164592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59" y="442569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Cumulative Flow Diagram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59" y="47548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Kumulierter Fluss aller Issues über Zeit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248656"/>
            <a:ext cx="11551615" cy="74980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5248656"/>
            <a:ext cx="164592" cy="7498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59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Flow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59" y="563270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Verteilung nach Typ, Stage-Dominanz, CT je Typ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217920"/>
            <a:ext cx="11551615" cy="3657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26364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Terminologie umschaltbar: SAFe (Flow Time, Flow Velocity, Flow Load) ↔ Global (Cycle Time, Throughput, WIP)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Flow Time / Cycle Time — Wie lange dauert eine Aufgabe?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Messung: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627632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Von First Date (erste Aktivität) bis Closed Date (Abschluss) — in Kalendertagen.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057400"/>
            <a:ext cx="566928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211226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📦  Boxplot — Verteilung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68880"/>
            <a:ext cx="5669280" cy="23317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low_time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173" y="2560320"/>
            <a:ext cx="3599012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79" y="4050791"/>
            <a:ext cx="55046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Enge Box = vorhersagbar. Breite Box = unvorhersagbar.
Header-Statistiken: Min / Q1 / Median / Ø / Q3 / Max.
90d CT% = Anteil der Aufgaben ≤ 90 Tage.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57400"/>
            <a:ext cx="566928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59" y="211226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⚫  Scatterplot — Verlauf über Zeit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468880"/>
            <a:ext cx="5669280" cy="23317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low_time_scatter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944" y="2560320"/>
            <a:ext cx="3563231" cy="1417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59" y="4050791"/>
            <a:ext cx="55046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Jeder Punkt = eine abgeschlossene Aufgabe.
Referenzlinien: Median, P85, P95. Trendlinie zeigt, ob das Team schneller oder langsamer wird.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37760"/>
            <a:ext cx="11551615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5074920"/>
            <a:ext cx="115516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3E50"/>
                </a:solidFill>
              </a:rPr>
              <a:t>💡 P85-Linie (85. Perzentil) = 85 % aller Aufgaben waren schneller als dieser Wert.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💡 Faustregel: P85 als Service Level Expectation (SLE) kommunizieren.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💡 Trendlinie zeigt Verbesserung/Verschlechterung über Zeit — früher erkennbar als Durchschnittswerte.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Flow Velocity / Throughput — Wie viele Aufgaben werden fertig?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Messung: Anzahl abgeschlossener Aufgaben (mit Closed Date) pro Zeitraum.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737360"/>
            <a:ext cx="3657600" cy="4114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792224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Tagesfrequenz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48840"/>
            <a:ext cx="3657600" cy="251460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low_velocity_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2331008"/>
            <a:ext cx="3474720" cy="13730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79" y="3867912"/>
            <a:ext cx="3493008" cy="749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Histogramm: wie viele Aufgaben werden typischerweise an einem Tag abgeschlossen?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737360"/>
            <a:ext cx="365760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79" y="1792224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📈  Wochenverlauf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148840"/>
            <a:ext cx="3657600" cy="251460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low_velocity_week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79" y="2334252"/>
            <a:ext cx="3474720" cy="13665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97679" y="3867912"/>
            <a:ext cx="3493008" cy="749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Linienchart: zeigt Schwankungen und Trends über Wochen und Quartale.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36576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1792224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📅  PI-Verlauf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148840"/>
            <a:ext cx="3657600" cy="251460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low_velocity_ProgramIncr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2352170"/>
            <a:ext cx="3474720" cy="133069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83879" y="3867912"/>
            <a:ext cx="3493008" cy="749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Balkendiagramm pro PI mit Durchschnittslinie — ideal für PI-Retro und PI-Planning.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800600"/>
            <a:ext cx="11551615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4937760"/>
            <a:ext cx="115516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3E50"/>
                </a:solidFill>
              </a:rPr>
              <a:t>💡 Im PI-Planning: historischen Durchsatz als Kapazitätsbasis nutzen (realistischer als Story Points).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💡 Wochenverlauf zeigt, ob Urlaube, Feiertage oder andere Faktoren den Durchsatz beeinflussen.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💡 Tipp: Filter auf bestimmte Issue-Typen setzen (z. B. nur 'Feature') für typ-spezifische Velocity.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Flow Load / WIP — Was läuft gerade?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Messung: Alle Aufgaben, die aktiv begonnen wurden (First Date gesetzt), aber noch nicht abgeschlossen sind.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719072"/>
            <a:ext cx="694944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773936"/>
            <a:ext cx="6784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📦  Boxplot je Stage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30552"/>
            <a:ext cx="6949440" cy="251460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low_load_Aging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643" y="2221991"/>
            <a:ext cx="3948233" cy="1554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79" y="3849624"/>
            <a:ext cx="67848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Y-Achse = Alter in Tagen (seit First Date).
Referenzlinien aus historischen Abschlüssen: Median, P85, Target CT.
Aufgaben über der P85-Linie: möglicherweise blockiert.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7190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Was bedeutet es, wenn 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103120"/>
            <a:ext cx="4389120" cy="74980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21396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… viele Aufgaben in einer Stage alt werden: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4688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Engpass in dieser Phase — Kapazität prüfen.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2971800"/>
            <a:ext cx="4389120" cy="74980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30083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… alle Stages voll sind: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Zu viel WIP — neue Arbeit zurückhalten, erst fertigstellen.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3840479"/>
            <a:ext cx="4389120" cy="74980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387705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… einzelne Aufgaben extrem alt sind: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Blockade — konkrete Aufgabe prüfen.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800600"/>
            <a:ext cx="11551615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4937760"/>
            <a:ext cx="115516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3E50"/>
                </a:solidFill>
              </a:rPr>
              <a:t>💡 WIP-Limit: Je weniger Aufgaben gleichzeitig offen, desto schneller werden sie fertig (Little's Law).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💡 To-Do-Aufgaben (kein First Date) und abgeschlossene werden ausgeblendet — nur aktive Arbeit sichtbar.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Cumulative Flow Diagram — Wie fließt die Arbeit?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Zeigt, wie viele Issues bis zu einem bestimmten Tag insgesamt in jede Stage eingetreten sind (kumuliert).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719072"/>
            <a:ext cx="69494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773936"/>
            <a:ext cx="6784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📉  Was man am CFD abliest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30552"/>
            <a:ext cx="6949440" cy="3794759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ummulative flow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24" y="2221991"/>
            <a:ext cx="5938471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79" y="4581144"/>
            <a:ext cx="6784848" cy="129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Breite der Bänder = durchschnittliche Durchlaufzeit.
→ Breiter: Prozess verlangsamt sich. Schmaler: Team wird schneller.
• Oben (Inflow): Issues, die in die aktive Arbeit eintreten.
• Unten (Outflow): Issues, die abgeschlossen werden.
Inflow &gt; Outflow über Zeit: Warteschlange wächst.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7190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Typische Muster: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103120"/>
            <a:ext cx="18288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213055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Gleichmäßige Bänder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45059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Stabiler, vorhersagbarer Prozess.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3017520"/>
            <a:ext cx="18288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304495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Breiter werdende Bänder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36499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Engpass aufgebaut — Outflow &lt; Inflow.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3931920"/>
            <a:ext cx="18288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395935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Plateau (keine Bewegung)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2793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Work stoppage — Team blockiert.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846320"/>
            <a:ext cx="182880" cy="685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0" y="487375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Schmaler werdende Bänder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1937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Aufholjagd — Rückstand wird abgebaut.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Flow Distribution — Was arbeitet das Team?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Drei Diagramme zeigen die Zusammensetzung der Arbeit.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719072"/>
            <a:ext cx="365760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773936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🍩  By Issue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30552"/>
            <a:ext cx="3657600" cy="27889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2203704"/>
            <a:ext cx="3493008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Kreisdiagramm: Anteil von Feature,
Bug, Enabler usw.
Frage: Wie viel Prozent unserer
Kapazität geht in Features,
wie viel in Bugfixes?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719072"/>
            <a:ext cx="365760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79" y="1773936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🍩  Stage Prominence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130552"/>
            <a:ext cx="3657600" cy="27889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2203704"/>
            <a:ext cx="3493008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Kreisdiagramm: In welcher Stage
verbringen Aufgaben die meiste Zeit?
Frage: Wo ist unser eigentlicher
Engpass — auch wenn er nicht
offensichtlich ist?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719072"/>
            <a:ext cx="36576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1773936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Avg Cycle Time by 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130552"/>
            <a:ext cx="3657600" cy="27889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2203704"/>
            <a:ext cx="3493008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Balkendiagramm: Durchschnittliche
Durchlaufzeit pro Aufgabentyp.
Frage: Dauern Features wirklich
länger als Bugs? Wie groß ist
der Unterschied?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074920"/>
            <a:ext cx="11551615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5212080"/>
            <a:ext cx="115516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3E50"/>
                </a:solidFill>
              </a:rPr>
              <a:t>💡 Stage Prominence zeigt, wo Aufgaben wirklich stecken — unabhängig von Tickets-Anzahl je Stage.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💡 Filter auf abgeschlossene Issues: Stage Prominence zählt nur Phasen vor dem Abschluss-Status.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Filter und Konfiguration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Filter: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64208"/>
            <a:ext cx="11551615" cy="56692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Von / Bis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78308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Datumsfilter auf Closed Date — Standard: letzte 365 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322576"/>
            <a:ext cx="11551615" cy="56692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Projekte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4414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Kommagetrennte Projekt-Keys, z. B.  ARTA, ARTB  — leer = alle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80944"/>
            <a:ext cx="11551615" cy="56692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0540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Issuetypen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099815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z. B.  Feature, Bug  — leer = alle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639312"/>
            <a:ext cx="11551615" cy="56692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7124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Status-Ausschluss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758184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Issues mit bestimmten Status komplett ignorieren, z. B.  Canceled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97680"/>
            <a:ext cx="11551615" cy="56692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3708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Zero-Day-Issues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4165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Issues mit CT &lt; Schwellwert (Standard: 5 min) ausschließen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029200"/>
            <a:ext cx="11551615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5212080"/>
            <a:ext cx="115516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980B9"/>
                </a:solidFill>
              </a:rPr>
              <a:t>Tipp: einmal sauber konfigurierte Filter + Metrik-Auswahl als Project-Template speichern und in jedem Lauf wiederverwenden — siehe nächste Folie.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Project-Template — einmal speichern, in jedem Modul nutzen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Seit v0.11.0: eine einzige JSON-Datei mit einer Sektion pro Modul.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719072"/>
            <a:ext cx="6400800" cy="40233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Aufbau (schema v5):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6126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{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C3E50"/>
                </a:solidFill>
              </a:rPr>
              <a:t>  "schema": 5,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C3E50"/>
                </a:solidFill>
              </a:rPr>
              <a:t>  "transform_data":     { "json": "...", "workflow": "..." },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C3E50"/>
                </a:solidFill>
              </a:rPr>
              <a:t>  "build_reports":      { "pi": {...}, "filters": {...},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C3E50"/>
                </a:solidFill>
              </a:rPr>
              <a:t>                          "metrics": [...] },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C3E50"/>
                </a:solidFill>
              </a:rPr>
              <a:t>  "testdata_generator": { "out_dir": "...", "shape": "..." },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C3E50"/>
                </a:solidFill>
              </a:rPr>
              <a:t>  "helper":             { "inputs": [...] }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C3E50"/>
                </a:solidFill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7190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Templates → Save / Load: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3E50"/>
                </a:solidFill>
              </a:rPr>
              <a:t>● Save in einem Modul: die anderen Modul-Sektionen bleiben unangetastet.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2C3E50"/>
                </a:solidFill>
              </a:rPr>
              <a:t>● Load in jedem Modul: füllt nur die eigene Sektion.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2C3E50"/>
                </a:solidFill>
              </a:rPr>
              <a:t>● Hand-over (siehe Folie 5) nutzt denselben Template-Mechanismus als Transport.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2C3E50"/>
                </a:solidFill>
              </a:rPr>
              <a:t>● Alt-Format (schema v4) wird transparent als build_reports-Sektion gelesen.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2C3E50"/>
                </a:solidFill>
              </a:rPr>
              <a:t>● Ideal für regelmäßige Sprint-/PI-Berichte mit fixen Filtern.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Export — Browser, PDF, Excel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370332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79" y="1380744"/>
            <a:ext cx="35387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🌐  Browser-Anzeige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37360"/>
            <a:ext cx="3703320" cy="4709159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810512"/>
            <a:ext cx="3538727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Alle Diagramme als kombiniertes HTML im Browser.
• Vollständig interaktiv: Zoom, Pan, Tooltip beim Hovern
• Legende ein-/ausblenden
• Kein PDF-Export nötig für interne Ansicht
Aktivieren: Button 'Berichte erstellen' in der GUI
CLI: --browser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25880"/>
            <a:ext cx="3703320" cy="4114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79" y="1380744"/>
            <a:ext cx="35387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📄  PDF-Export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737360"/>
            <a:ext cx="3703320" cy="4709159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79" y="1810512"/>
            <a:ext cx="3538727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Alle ausgewählten Metriken in einem
mehrseitigen PDF.
• Automatisch: Report-Excel-Datei (.xlsx)
  mit allen gefilterten Issues
• Automatisch: Zero-Day-Issues.xlsx
  (wenn vorhanden)
CLI: --pdf report.pdf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325880"/>
            <a:ext cx="37033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9" y="1380744"/>
            <a:ext cx="35387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Report-Excel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737360"/>
            <a:ext cx="3703320" cy="4709159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1810512"/>
            <a:ext cx="3538727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Wird bei jedem PDF-Export automatisch erstellt.
Enthält alle gefilterten Issues mit:
• Status Group (To Do / In Progress / Done)
• Cycle Time Method A (Kalendertage)
• Cycle Time Method B (Stage-Minuten)
Ideal für eigene Auswertungen in Excel.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Tipps für den Alltag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66928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79" y="138074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Regelmäßiger Rhythmus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37360"/>
            <a:ext cx="5669280" cy="11887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810512"/>
            <a:ext cx="5504688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Einmal pro Sprint oder PI ein festes Template laden und Report generieren. Konsistenz macht Trends erst sichtbar.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56692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38074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Zero-Day-Issues bereinigen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5669280" cy="11887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810512"/>
            <a:ext cx="5504688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Beim ersten Lauf Zero-Day-Ausschluss aktivieren und prüfen, welche Issues herausgefiltert werden. Diese Aufgaben sind meist Testtickets oder Fehler im Jira-Workflow.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54680"/>
            <a:ext cx="566928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79" y="320954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P85 als Service Level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66160"/>
            <a:ext cx="5669280" cy="11887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3639312"/>
            <a:ext cx="5504688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Den P85-Wert (85. Perzentil der Flow Time) als Service Level Expectation (SLE) definieren: '85 % unserer Features sind in X Tagen fertig.'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54680"/>
            <a:ext cx="5669280" cy="4114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20954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CFD im Standup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566160"/>
            <a:ext cx="5669280" cy="11887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3639312"/>
            <a:ext cx="5504688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Das CFD eignet sich gut als Standup-Artefakt: Sehen wir Staubildung? Ist der Abfluss stabil? Veränderungen werden oft im CFD sichtbar, bevor sie in Tickets auffallen.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983480"/>
            <a:ext cx="11551615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79" y="5038344"/>
            <a:ext cx="113870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Template-Pflege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94960"/>
            <a:ext cx="11551615" cy="11887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79" y="5468112"/>
            <a:ext cx="11387023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Einmal pro Sprint die Konfiguration als Project-Template speichern — Filter, PI-Konfig und Metrik-Auswahl bleiben dann konstant. Beim nächsten Lauf nur 'Templates → Laden' und 'Berichte erstellen'.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1944</Words>
  <Application>Microsoft Office PowerPoint</Application>
  <PresentationFormat>Widescreen</PresentationFormat>
  <Paragraphs>192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 Seebauer</cp:lastModifiedBy>
  <cp:revision>1</cp:revision>
  <dcterms:created xsi:type="dcterms:W3CDTF">2013-01-27T09:14:16Z</dcterms:created>
  <dcterms:modified xsi:type="dcterms:W3CDTF">2026-06-19T09:36:10Z</dcterms:modified>
  <cp:category/>
</cp:coreProperties>
</file>