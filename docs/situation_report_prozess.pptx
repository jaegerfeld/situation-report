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88952" cy="224028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2437790" cy="4572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437790" y="6400800"/>
            <a:ext cx="2437790" cy="45720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875580" y="6400800"/>
            <a:ext cx="2437790" cy="4572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3371" y="6400800"/>
            <a:ext cx="243779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751161" y="6400800"/>
            <a:ext cx="2437790" cy="457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46888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</a:rPr>
              <a:t>situation-report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290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AECCE8"/>
                </a:solidFill>
              </a:rPr>
              <a:t>Vom Jira-Export zum Entscheidungsdiagramm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" y="6419088"/>
            <a:ext cx="234635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1  Daten bereitstellen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0942" y="6419088"/>
            <a:ext cx="234635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2  Analyse einrichten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48732" y="6419088"/>
            <a:ext cx="234635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3  Metriken berechnen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86523" y="6419088"/>
            <a:ext cx="234635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4  Ergebnisse teilen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24313" y="6419088"/>
            <a:ext cx="234635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5  Konfiguration verwalten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9893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EA8B3"/>
                </a:solidFill>
              </a:rPr>
              <a:t>github.com/Jaegerfeld/situation-report  |  Stand Mai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Geschaftsprozess: Von Rohdaten zur Entscheidungsgrundlage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763523" y="1005840"/>
            <a:ext cx="2029968" cy="1280160"/>
          </a:xfrm>
          <a:prstGeom prst="roundRect">
            <a:avLst>
              <a:gd name="adj" fmla="val 30000"/>
            </a:avLst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54963" y="1078992"/>
            <a:ext cx="347472" cy="34747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4963" y="1060704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980B9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6443" y="10515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C3E50"/>
                </a:solidFill>
              </a:rPr>
              <a:t>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3" y="1536192"/>
            <a:ext cx="184708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Daten
bereitstellen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02635" y="1463040"/>
            <a:ext cx="2194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EA8B3"/>
                </a:solidFill>
              </a:rPr>
              <a:t>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3523" y="2395728"/>
            <a:ext cx="2029968" cy="2286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6675" y="2532888"/>
            <a:ext cx="109728" cy="109728"/>
          </a:xfrm>
          <a:prstGeom prst="roundRect">
            <a:avLst>
              <a:gd name="adj" fmla="val 30000"/>
            </a:avLst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1267" y="2450591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Jira-Export importieren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6675" y="2916936"/>
            <a:ext cx="109728" cy="109728"/>
          </a:xfrm>
          <a:prstGeom prst="roundRect">
            <a:avLst>
              <a:gd name="adj" fmla="val 30000"/>
            </a:avLst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1267" y="2834639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Workflow definieren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6675" y="3300984"/>
            <a:ext cx="109728" cy="109728"/>
          </a:xfrm>
          <a:prstGeom prst="roundRect">
            <a:avLst>
              <a:gd name="adj" fmla="val 30000"/>
            </a:avLst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1267" y="3218687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Zeiten berechnen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21507" y="1005840"/>
            <a:ext cx="2029968" cy="1280160"/>
          </a:xfrm>
          <a:prstGeom prst="roundRect">
            <a:avLst>
              <a:gd name="adj" fmla="val 30000"/>
            </a:avLst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012947" y="1078992"/>
            <a:ext cx="347472" cy="34747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12947" y="1060704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6A085"/>
                </a:solidFill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4427" y="10515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C3E50"/>
                </a:solidFill>
              </a:rPr>
              <a:t>⚙️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2947" y="1536192"/>
            <a:ext cx="184708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Analyse
einrichten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60619" y="1463040"/>
            <a:ext cx="2194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EA8B3"/>
                </a:solidFill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21507" y="2395728"/>
            <a:ext cx="2029968" cy="2286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994659" y="2532888"/>
            <a:ext cx="109728" cy="109728"/>
          </a:xfrm>
          <a:prstGeom prst="roundRect">
            <a:avLst>
              <a:gd name="adj" fmla="val 30000"/>
            </a:avLst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59251" y="2450591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Zeitraum wahlen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94659" y="2916936"/>
            <a:ext cx="109728" cy="109728"/>
          </a:xfrm>
          <a:prstGeom prst="roundRect">
            <a:avLst>
              <a:gd name="adj" fmla="val 30000"/>
            </a:avLst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59251" y="2834639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Projekte filtern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994659" y="3300984"/>
            <a:ext cx="109728" cy="109728"/>
          </a:xfrm>
          <a:prstGeom prst="roundRect">
            <a:avLst>
              <a:gd name="adj" fmla="val 30000"/>
            </a:avLst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159251" y="3218687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Ausnahmen definieren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79492" y="1005840"/>
            <a:ext cx="2029968" cy="1280160"/>
          </a:xfrm>
          <a:prstGeom prst="roundRect">
            <a:avLst>
              <a:gd name="adj" fmla="val 30000"/>
            </a:avLst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170931" y="1078992"/>
            <a:ext cx="347472" cy="34747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70931" y="1060704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8E44AD"/>
                </a:solidFill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82412" y="10515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C3E50"/>
                </a:solidFill>
              </a:rPr>
              <a:t>📊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70931" y="1536192"/>
            <a:ext cx="184708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Metriken
berechnen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18604" y="1463040"/>
            <a:ext cx="2194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EA8B3"/>
                </a:solidFill>
              </a:rPr>
              <a:t>▶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79492" y="2395728"/>
            <a:ext cx="2029968" cy="2286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152644" y="2532888"/>
            <a:ext cx="109728" cy="109728"/>
          </a:xfrm>
          <a:prstGeom prst="roundRect">
            <a:avLst>
              <a:gd name="adj" fmla="val 30000"/>
            </a:avLst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17236" y="2450591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Durchlaufzeit messen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152644" y="2916936"/>
            <a:ext cx="109728" cy="109728"/>
          </a:xfrm>
          <a:prstGeom prst="roundRect">
            <a:avLst>
              <a:gd name="adj" fmla="val 30000"/>
            </a:avLst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17236" y="2834639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Durchsatz pruefen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152644" y="3300984"/>
            <a:ext cx="109728" cy="109728"/>
          </a:xfrm>
          <a:prstGeom prst="roundRect">
            <a:avLst>
              <a:gd name="adj" fmla="val 30000"/>
            </a:avLst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17236" y="3218687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Engpaesse finden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237476" y="1005840"/>
            <a:ext cx="2029968" cy="1280160"/>
          </a:xfrm>
          <a:prstGeom prst="roundRect">
            <a:avLst>
              <a:gd name="adj" fmla="val 30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328916" y="1078992"/>
            <a:ext cx="347472" cy="34747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28916" y="1060704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7AE60"/>
                </a:solidFill>
              </a:rPr>
              <a:t>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40396" y="10515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C3E50"/>
                </a:solidFill>
              </a:rPr>
              <a:t>📋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28916" y="1536192"/>
            <a:ext cx="184708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Ergebnisse
teilen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76588" y="1463040"/>
            <a:ext cx="2194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EA8B3"/>
                </a:solidFill>
              </a:rPr>
              <a:t>▶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237476" y="2395728"/>
            <a:ext cx="2029968" cy="228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10628" y="2532888"/>
            <a:ext cx="109728" cy="109728"/>
          </a:xfrm>
          <a:prstGeom prst="roundRect">
            <a:avLst>
              <a:gd name="adj" fmla="val 30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475220" y="2450591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PDF exportieren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310628" y="2916936"/>
            <a:ext cx="109728" cy="109728"/>
          </a:xfrm>
          <a:prstGeom prst="roundRect">
            <a:avLst>
              <a:gd name="adj" fmla="val 30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475220" y="2834639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Im Browser zeigen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310628" y="3300984"/>
            <a:ext cx="109728" cy="109728"/>
          </a:xfrm>
          <a:prstGeom prst="roundRect">
            <a:avLst>
              <a:gd name="adj" fmla="val 30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475220" y="3218687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Excel bereitstellen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395460" y="1005840"/>
            <a:ext cx="2029968" cy="1280160"/>
          </a:xfrm>
          <a:prstGeom prst="roundRect">
            <a:avLst>
              <a:gd name="adj" fmla="val 30000"/>
            </a:avLst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486900" y="1078992"/>
            <a:ext cx="347472" cy="34747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486900" y="1060704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67E22"/>
                </a:solidFill>
              </a:rPr>
              <a:t>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898380" y="10515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C3E50"/>
                </a:solidFill>
              </a:rPr>
              <a:t>🔧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486900" y="1536192"/>
            <a:ext cx="184708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Konfiguration
verwalten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395460" y="2395728"/>
            <a:ext cx="2029968" cy="228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468612" y="2532888"/>
            <a:ext cx="109728" cy="109728"/>
          </a:xfrm>
          <a:prstGeom prst="roundRect">
            <a:avLst>
              <a:gd name="adj" fmla="val 30000"/>
            </a:avLst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633204" y="2450591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Einstellungen speichern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468612" y="2916936"/>
            <a:ext cx="109728" cy="109728"/>
          </a:xfrm>
          <a:prstGeom prst="roundRect">
            <a:avLst>
              <a:gd name="adj" fmla="val 30000"/>
            </a:avLst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633204" y="2834639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Sprache wahlen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468612" y="3300984"/>
            <a:ext cx="109728" cy="109728"/>
          </a:xfrm>
          <a:prstGeom prst="roundRect">
            <a:avLst>
              <a:gd name="adj" fmla="val 30000"/>
            </a:avLst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633204" y="3218687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Handbuch offnen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20040" y="5943600"/>
            <a:ext cx="4114800" cy="502920"/>
          </a:xfrm>
          <a:prstGeom prst="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11480" y="598932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2980B9"/>
                </a:solidFill>
              </a:rPr>
              <a:t>Modul: transform_data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11480" y="6163056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EA8B3"/>
                </a:solidFill>
              </a:rPr>
              <a:t>Schritt 1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663440" y="5943600"/>
            <a:ext cx="7223760" cy="502920"/>
          </a:xfrm>
          <a:prstGeom prst="rect">
            <a:avLst/>
          </a:prstGeom>
          <a:solidFill>
            <a:srgbClr val="F0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754880" y="5989320"/>
            <a:ext cx="7040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8E44AD"/>
                </a:solidFill>
              </a:rPr>
              <a:t>Modul: build_reports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754880" y="6163056"/>
            <a:ext cx="7040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EA8B3"/>
                </a:solidFill>
              </a:rPr>
              <a:t>Schritte 2 - 5</a:t>
            </a:r>
          </a:p>
        </p:txBody>
      </p:sp>
      <p:sp>
        <p:nvSpPr>
          <p:cNvPr id="75" name="Rectangle 74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74320" y="6675120"/>
            <a:ext cx="11612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EA8B3"/>
                </a:solidFill>
              </a:rPr>
              <a:t>situation-report  |  Flow-Metriken fur agile Teams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64592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371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980B9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801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2C3E50"/>
                </a:solidFill>
              </a:rPr>
              <a:t>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9144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Daten bereitstellen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566928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Rohdaten aus Jira aufbereiten</a:t>
            </a:r>
          </a:p>
        </p:txBody>
      </p:sp>
      <p:sp>
        <p:nvSpPr>
          <p:cNvPr id="9" name="Rectangle 8"/>
          <p:cNvSpPr/>
          <p:nvPr/>
        </p:nvSpPr>
        <p:spPr>
          <a:xfrm>
            <a:off x="9326880" y="228600"/>
            <a:ext cx="26060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72600" y="246888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980B9"/>
                </a:solidFill>
              </a:rPr>
              <a:t>Modul: transform_data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" y="1143000"/>
            <a:ext cx="2148840" cy="438912"/>
          </a:xfrm>
          <a:prstGeom prst="roundRect">
            <a:avLst>
              <a:gd name="adj" fmla="val 30000"/>
            </a:avLst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1197864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1  Daten bereitstellen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34640" y="1143000"/>
            <a:ext cx="2148840" cy="438912"/>
          </a:xfrm>
          <a:prstGeom prst="roundRect">
            <a:avLst>
              <a:gd name="adj" fmla="val 30000"/>
            </a:avLst>
          </a:prstGeom>
          <a:solidFill>
            <a:srgbClr val="CCD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0360" y="1197864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EA8B3"/>
                </a:solidFill>
              </a:rPr>
              <a:t>2  Analyse einrichten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0056" y="1143000"/>
            <a:ext cx="2148840" cy="438912"/>
          </a:xfrm>
          <a:prstGeom prst="roundRect">
            <a:avLst>
              <a:gd name="adj" fmla="val 30000"/>
            </a:avLst>
          </a:prstGeom>
          <a:solidFill>
            <a:srgbClr val="CCD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65776" y="1197864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EA8B3"/>
                </a:solidFill>
              </a:rPr>
              <a:t>3  Metriken berechnen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05472" y="1143000"/>
            <a:ext cx="2148840" cy="438912"/>
          </a:xfrm>
          <a:prstGeom prst="roundRect">
            <a:avLst>
              <a:gd name="adj" fmla="val 30000"/>
            </a:avLst>
          </a:prstGeom>
          <a:solidFill>
            <a:srgbClr val="CCD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51192" y="1197864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EA8B3"/>
                </a:solidFill>
              </a:rPr>
              <a:t>4  Ergebnisse teilen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90888" y="1143000"/>
            <a:ext cx="2148840" cy="438912"/>
          </a:xfrm>
          <a:prstGeom prst="roundRect">
            <a:avLst>
              <a:gd name="adj" fmla="val 30000"/>
            </a:avLst>
          </a:prstGeom>
          <a:solidFill>
            <a:srgbClr val="CCD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36608" y="1197864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EA8B3"/>
                </a:solidFill>
              </a:rPr>
              <a:t>5  Konfiguration verwalten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1783080"/>
            <a:ext cx="3742943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1783080"/>
            <a:ext cx="64008" cy="14173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79" y="1874519"/>
            <a:ext cx="35417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980B9"/>
                </a:solidFill>
              </a:rPr>
              <a:t>Jira-Daten importieren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79" y="2176272"/>
            <a:ext cx="354177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JSON-Export aus Jira einlesen -- kein manuelles Umformatieren noetig.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54423" y="1783080"/>
            <a:ext cx="3742943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54423" y="1783080"/>
            <a:ext cx="64008" cy="14173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91584" y="1874519"/>
            <a:ext cx="35417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980B9"/>
                </a:solidFill>
              </a:rPr>
              <a:t>Workflow definieren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1584" y="2176272"/>
            <a:ext cx="354177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Eine einfache Textdatei legt fest, welche Schritte zum Prozess gehoeren und wo Arbeit beginnt bzw. endet.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34528" y="1783080"/>
            <a:ext cx="3742943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34528" y="1783080"/>
            <a:ext cx="64008" cy="14173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71688" y="1874519"/>
            <a:ext cx="35417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980B9"/>
                </a:solidFill>
              </a:rPr>
              <a:t>Verweildauer berechnen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71688" y="2176272"/>
            <a:ext cx="354177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Das System ermittelt automatisch, wie lange jedes Ticket in jedem Prozessschritt verbracht hat.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3291840"/>
            <a:ext cx="3742943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74320" y="3291840"/>
            <a:ext cx="64008" cy="14173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79" y="3383280"/>
            <a:ext cx="35417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980B9"/>
                </a:solidFill>
              </a:rPr>
              <a:t>Zeitpunkte bestimmen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79" y="3685032"/>
            <a:ext cx="354177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Beginn der Bearbeitung (First Date) und Abschluss (Closed Date) werden aus den Statuswechseln abgeleitet -- auch bei Wiedereroffnung korrekt.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54423" y="3291840"/>
            <a:ext cx="3742943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54423" y="3291840"/>
            <a:ext cx="64008" cy="14173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91584" y="3383280"/>
            <a:ext cx="35417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980B9"/>
                </a:solidFill>
              </a:rPr>
              <a:t>Luecken behandeln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91584" y="3685032"/>
            <a:ext cx="354177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Wird ein Prozessschritt uebersprungen, wird die Zeit automatisch dem naechsten bekannten Schritt zugerechnet.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34528" y="3291840"/>
            <a:ext cx="3742943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034528" y="3291840"/>
            <a:ext cx="64008" cy="14173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71688" y="3383280"/>
            <a:ext cx="35417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980B9"/>
                </a:solidFill>
              </a:rPr>
              <a:t>Qualitaetsprufung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71688" y="3685032"/>
            <a:ext cx="354177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Fehlende Workflow-Marker und unbekannte Status werden gemeldet, bevor Fehler in die Auswertung einfliessen.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4800600"/>
            <a:ext cx="3742943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74320" y="4800600"/>
            <a:ext cx="64008" cy="14173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79" y="4892040"/>
            <a:ext cx="35417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980B9"/>
                </a:solidFill>
              </a:rPr>
              <a:t>Ausgabe als Excel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1479" y="5193792"/>
            <a:ext cx="354177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Ergebnis: zwei Excel-Dateien (IssueTimes + CFD), die direkt von build_reports weiterverarbeitet werden.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4320" y="6720840"/>
            <a:ext cx="1161288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situation-report  |  Flow-Metriken fur agile Teams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64592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371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6A085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801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2C3E50"/>
                </a:solidFill>
              </a:rPr>
              <a:t>⚙️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9144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Analyse einrichten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566928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Zeitraum, Projekte und Filter festlegen</a:t>
            </a:r>
          </a:p>
        </p:txBody>
      </p:sp>
      <p:sp>
        <p:nvSpPr>
          <p:cNvPr id="9" name="Rectangle 8"/>
          <p:cNvSpPr/>
          <p:nvPr/>
        </p:nvSpPr>
        <p:spPr>
          <a:xfrm>
            <a:off x="9326880" y="228600"/>
            <a:ext cx="26060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72600" y="246888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6A085"/>
                </a:solidFill>
              </a:rPr>
              <a:t>Modul: build_reports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" y="1143000"/>
            <a:ext cx="2148840" cy="438912"/>
          </a:xfrm>
          <a:prstGeom prst="roundRect">
            <a:avLst>
              <a:gd name="adj" fmla="val 30000"/>
            </a:avLst>
          </a:prstGeom>
          <a:solidFill>
            <a:srgbClr val="CCD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1197864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EA8B3"/>
                </a:solidFill>
              </a:rPr>
              <a:t>1  Daten bereitstellen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34640" y="1143000"/>
            <a:ext cx="2148840" cy="438912"/>
          </a:xfrm>
          <a:prstGeom prst="roundRect">
            <a:avLst>
              <a:gd name="adj" fmla="val 30000"/>
            </a:avLst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0360" y="1197864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2  Analyse einrichten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0056" y="1143000"/>
            <a:ext cx="2148840" cy="438912"/>
          </a:xfrm>
          <a:prstGeom prst="roundRect">
            <a:avLst>
              <a:gd name="adj" fmla="val 30000"/>
            </a:avLst>
          </a:prstGeom>
          <a:solidFill>
            <a:srgbClr val="CCD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65776" y="1197864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EA8B3"/>
                </a:solidFill>
              </a:rPr>
              <a:t>3  Metriken berechnen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05472" y="1143000"/>
            <a:ext cx="2148840" cy="438912"/>
          </a:xfrm>
          <a:prstGeom prst="roundRect">
            <a:avLst>
              <a:gd name="adj" fmla="val 30000"/>
            </a:avLst>
          </a:prstGeom>
          <a:solidFill>
            <a:srgbClr val="CCD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51192" y="1197864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EA8B3"/>
                </a:solidFill>
              </a:rPr>
              <a:t>4  Ergebnisse teilen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90888" y="1143000"/>
            <a:ext cx="2148840" cy="438912"/>
          </a:xfrm>
          <a:prstGeom prst="roundRect">
            <a:avLst>
              <a:gd name="adj" fmla="val 30000"/>
            </a:avLst>
          </a:prstGeom>
          <a:solidFill>
            <a:srgbClr val="CCD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36608" y="1197864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EA8B3"/>
                </a:solidFill>
              </a:rPr>
              <a:t>5  Konfiguration verwalten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1783080"/>
            <a:ext cx="3742943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1783080"/>
            <a:ext cx="64008" cy="141732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79" y="1874519"/>
            <a:ext cx="35417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6A085"/>
                </a:solidFill>
              </a:rPr>
              <a:t>Zeitraum festlegen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79" y="2176272"/>
            <a:ext cx="354177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Per Kalender Von/Bis wahlen oder auf Knopfdruck die letzten 365 Tage laden -- der Bericht passt sich sofort an.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54423" y="1783080"/>
            <a:ext cx="3742943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54423" y="1783080"/>
            <a:ext cx="64008" cy="141732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91584" y="1874519"/>
            <a:ext cx="35417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6A085"/>
                </a:solidFill>
              </a:rPr>
              <a:t>Projekte auswahlen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1584" y="2176272"/>
            <a:ext cx="354177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Bei mehreren Teams oder Projekten in einer Datei kann gezielt nur ein Projekt oder eine Kombination ausgewertet werden.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34528" y="1783080"/>
            <a:ext cx="3742943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34528" y="1783080"/>
            <a:ext cx="64008" cy="141732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71688" y="1874519"/>
            <a:ext cx="35417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6A085"/>
                </a:solidFill>
              </a:rPr>
              <a:t>Issue-Typen filtern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71688" y="2176272"/>
            <a:ext cx="354177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Bugs, Features, Stories getrennt oder gemeinsam betrachten.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3291840"/>
            <a:ext cx="3742943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74320" y="3291840"/>
            <a:ext cx="64008" cy="141732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79" y="3383280"/>
            <a:ext cx="35417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6A085"/>
                </a:solidFill>
              </a:rPr>
              <a:t>Ausnahmen ausschliessen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79" y="3685032"/>
            <a:ext cx="354177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Tickets mit bestimmten Abschlussgrundon (z. B. 'Duplicate') oder Status (z. B. 'Canceled') werden vollstandig herausgerechnet.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54423" y="3291840"/>
            <a:ext cx="3742943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54423" y="3291840"/>
            <a:ext cx="64008" cy="141732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91584" y="3383280"/>
            <a:ext cx="35417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6A085"/>
                </a:solidFill>
              </a:rPr>
              <a:t>Schnellausschluss Zero-Day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91584" y="3685032"/>
            <a:ext cx="354177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Tickets, die in Sekunden durch den Workflow geklickt wurden, verzerren Statistiken -- sie werden automatisch erkannt und separat dokumentiert.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34528" y="3291840"/>
            <a:ext cx="3742943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034528" y="3291840"/>
            <a:ext cx="64008" cy="141732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71688" y="3383280"/>
            <a:ext cx="35417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6A085"/>
                </a:solidFill>
              </a:rPr>
              <a:t>PI-Intervalle konfigurieren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71688" y="3685032"/>
            <a:ext cx="354177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Eigene Program-Increment-Zeitraume definieren, damit Velocity-Berichte die echten PI-Grenzen des Teams zeigen.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4320" y="6720840"/>
            <a:ext cx="1161288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situation-report  |  Flow-Metriken fur agile Teams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64592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371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8E44AD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801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2C3E50"/>
                </a:solidFill>
              </a:rPr>
              <a:t>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9144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Metriken berechnen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566928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Fuenf Flow-Metriken auf einen Blick</a:t>
            </a:r>
          </a:p>
        </p:txBody>
      </p:sp>
      <p:sp>
        <p:nvSpPr>
          <p:cNvPr id="9" name="Rectangle 8"/>
          <p:cNvSpPr/>
          <p:nvPr/>
        </p:nvSpPr>
        <p:spPr>
          <a:xfrm>
            <a:off x="9326880" y="228600"/>
            <a:ext cx="26060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72600" y="246888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E44AD"/>
                </a:solidFill>
              </a:rPr>
              <a:t>Modul: build_reports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" y="1143000"/>
            <a:ext cx="2148840" cy="438912"/>
          </a:xfrm>
          <a:prstGeom prst="roundRect">
            <a:avLst>
              <a:gd name="adj" fmla="val 30000"/>
            </a:avLst>
          </a:prstGeom>
          <a:solidFill>
            <a:srgbClr val="CCD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1197864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EA8B3"/>
                </a:solidFill>
              </a:rPr>
              <a:t>1  Daten bereitstellen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34640" y="1143000"/>
            <a:ext cx="2148840" cy="438912"/>
          </a:xfrm>
          <a:prstGeom prst="roundRect">
            <a:avLst>
              <a:gd name="adj" fmla="val 30000"/>
            </a:avLst>
          </a:prstGeom>
          <a:solidFill>
            <a:srgbClr val="CCD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0360" y="1197864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EA8B3"/>
                </a:solidFill>
              </a:rPr>
              <a:t>2  Analyse einrichten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0056" y="1143000"/>
            <a:ext cx="2148840" cy="438912"/>
          </a:xfrm>
          <a:prstGeom prst="roundRect">
            <a:avLst>
              <a:gd name="adj" fmla="val 30000"/>
            </a:avLst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65776" y="1197864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3  Metriken berechnen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05472" y="1143000"/>
            <a:ext cx="2148840" cy="438912"/>
          </a:xfrm>
          <a:prstGeom prst="roundRect">
            <a:avLst>
              <a:gd name="adj" fmla="val 30000"/>
            </a:avLst>
          </a:prstGeom>
          <a:solidFill>
            <a:srgbClr val="CCD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51192" y="1197864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EA8B3"/>
                </a:solidFill>
              </a:rPr>
              <a:t>4  Ergebnisse teilen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90888" y="1143000"/>
            <a:ext cx="2148840" cy="438912"/>
          </a:xfrm>
          <a:prstGeom prst="roundRect">
            <a:avLst>
              <a:gd name="adj" fmla="val 30000"/>
            </a:avLst>
          </a:prstGeom>
          <a:solidFill>
            <a:srgbClr val="CCD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36608" y="1197864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EA8B3"/>
                </a:solidFill>
              </a:rPr>
              <a:t>5  Konfiguration verwalten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1783080"/>
            <a:ext cx="3742943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1783080"/>
            <a:ext cx="64008" cy="14173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79" y="1874519"/>
            <a:ext cx="35417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E44AD"/>
                </a:solidFill>
              </a:rPr>
              <a:t>Wie lange dauert ein Ticket?
(Flow Time / Cycle Time)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79" y="2176272"/>
            <a:ext cx="354177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Zeigt Durchlaufzeit-Verteilung, Trend ueber Zeit und statistische Kennzahlen -- auf einen Blick sichtbar, ob der Prozess stabiler oder langsamer wird.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54423" y="1783080"/>
            <a:ext cx="3742943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54423" y="1783080"/>
            <a:ext cx="64008" cy="14173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91584" y="1874519"/>
            <a:ext cx="35417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E44AD"/>
                </a:solidFill>
              </a:rPr>
              <a:t>Wie viel liefert das Team?
(Flow Velocity / Throughput)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1584" y="2176272"/>
            <a:ext cx="354177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Taegliche, wochentliche und PI-Lieferraten -- ideal fuer Kapazitatsplanung und Sprint-Reviews.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34528" y="1783080"/>
            <a:ext cx="3742943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34528" y="1783080"/>
            <a:ext cx="64008" cy="14173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71688" y="1874519"/>
            <a:ext cx="35417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E44AD"/>
                </a:solidFill>
              </a:rPr>
              <a:t>Wie viel Arbeit liegt parallel?
(Flow Load / WIP)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71688" y="2176272"/>
            <a:ext cx="354177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Zeigt, wie alt offene Tickets je Prozessschritt sind. Je mehr parallel, desto langsamer der Durchfluss.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3291840"/>
            <a:ext cx="3742943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74320" y="3291840"/>
            <a:ext cx="64008" cy="14173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79" y="3383280"/>
            <a:ext cx="35417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E44AD"/>
                </a:solidFill>
              </a:rPr>
              <a:t>Wie fliessen Tickets durchs System?
(Cumulative Flow Diagram)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79" y="3685032"/>
            <a:ext cx="354177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Sichtbar, ob mehr eingeht als abgeschlossen wird -- und in welchem Schritt sich Tickets aufstauen.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54423" y="3291840"/>
            <a:ext cx="3742943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54423" y="3291840"/>
            <a:ext cx="64008" cy="14173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91584" y="3383280"/>
            <a:ext cx="35417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E44AD"/>
                </a:solidFill>
              </a:rPr>
              <a:t>Womit verbringt das Team Zeit?
(Flow Distribution)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91584" y="3685032"/>
            <a:ext cx="354177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Anteil Bugs vs. Features, welcher Schritt dominiert, welche Ticket-Typen am langsamsten sind.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4320" y="6720840"/>
            <a:ext cx="1161288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situation-report  |  Flow-Metriken fur agile Teams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64592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371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7AE60"/>
                </a:solidFill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801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2C3E50"/>
                </a:solidFill>
              </a:rPr>
              <a:t>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9144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Ergebnisse teilen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566928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Berichte erstellen und kommunizieren</a:t>
            </a:r>
          </a:p>
        </p:txBody>
      </p:sp>
      <p:sp>
        <p:nvSpPr>
          <p:cNvPr id="9" name="Rectangle 8"/>
          <p:cNvSpPr/>
          <p:nvPr/>
        </p:nvSpPr>
        <p:spPr>
          <a:xfrm>
            <a:off x="9326880" y="228600"/>
            <a:ext cx="26060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72600" y="246888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7AE60"/>
                </a:solidFill>
              </a:rPr>
              <a:t>Modul: build_reports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" y="1143000"/>
            <a:ext cx="2148840" cy="438912"/>
          </a:xfrm>
          <a:prstGeom prst="roundRect">
            <a:avLst>
              <a:gd name="adj" fmla="val 30000"/>
            </a:avLst>
          </a:prstGeom>
          <a:solidFill>
            <a:srgbClr val="CCD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1197864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EA8B3"/>
                </a:solidFill>
              </a:rPr>
              <a:t>1  Daten bereitstellen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34640" y="1143000"/>
            <a:ext cx="2148840" cy="438912"/>
          </a:xfrm>
          <a:prstGeom prst="roundRect">
            <a:avLst>
              <a:gd name="adj" fmla="val 30000"/>
            </a:avLst>
          </a:prstGeom>
          <a:solidFill>
            <a:srgbClr val="CCD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0360" y="1197864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EA8B3"/>
                </a:solidFill>
              </a:rPr>
              <a:t>2  Analyse einrichten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0056" y="1143000"/>
            <a:ext cx="2148840" cy="438912"/>
          </a:xfrm>
          <a:prstGeom prst="roundRect">
            <a:avLst>
              <a:gd name="adj" fmla="val 30000"/>
            </a:avLst>
          </a:prstGeom>
          <a:solidFill>
            <a:srgbClr val="CCD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65776" y="1197864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EA8B3"/>
                </a:solidFill>
              </a:rPr>
              <a:t>3  Metriken berechnen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05472" y="1143000"/>
            <a:ext cx="2148840" cy="438912"/>
          </a:xfrm>
          <a:prstGeom prst="roundRect">
            <a:avLst>
              <a:gd name="adj" fmla="val 30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51192" y="1197864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4  Ergebnisse teilen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90888" y="1143000"/>
            <a:ext cx="2148840" cy="438912"/>
          </a:xfrm>
          <a:prstGeom prst="roundRect">
            <a:avLst>
              <a:gd name="adj" fmla="val 30000"/>
            </a:avLst>
          </a:prstGeom>
          <a:solidFill>
            <a:srgbClr val="CCD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36608" y="1197864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EA8B3"/>
                </a:solidFill>
              </a:rPr>
              <a:t>5  Konfiguration verwalten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1783080"/>
            <a:ext cx="5682996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1783080"/>
            <a:ext cx="64008" cy="1417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79" y="1874519"/>
            <a:ext cx="54818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7AE60"/>
                </a:solidFill>
              </a:rPr>
              <a:t>Interaktive Browser-Ansicht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79" y="2176272"/>
            <a:ext cx="548182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Alle Diagramme im Browser: hineinzoomen, einzelne Werte per Hover ablesen, Kategorien ein-/ausblenden -- ideal fuer Live-Prasentationen.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4476" y="1783080"/>
            <a:ext cx="5682996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94476" y="1783080"/>
            <a:ext cx="64008" cy="1417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31636" y="1874519"/>
            <a:ext cx="54818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7AE60"/>
                </a:solidFill>
              </a:rPr>
              <a:t>PDF-Bericht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31636" y="2176272"/>
            <a:ext cx="548182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Mehrseitiger PDF-Bericht mit allen Diagrammen -- versendbar, druckbar, archivierbar.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3291840"/>
            <a:ext cx="5682996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74320" y="3291840"/>
            <a:ext cx="64008" cy="1417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79" y="3383280"/>
            <a:ext cx="54818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7AE60"/>
                </a:solidFill>
              </a:rPr>
              <a:t>Report-Excel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79" y="3685032"/>
            <a:ext cx="548182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Jeder PDF-Export erzeugt automatisch eine Excel-Datei mit allen gefilterten Tickets, Statusgruppen und Durchlaufzeiten.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94476" y="3291840"/>
            <a:ext cx="5682996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094476" y="3291840"/>
            <a:ext cx="64008" cy="1417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31636" y="3383280"/>
            <a:ext cx="54818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7AE60"/>
                </a:solidFill>
              </a:rPr>
              <a:t>Zero-Day-Dokumentation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31636" y="3685032"/>
            <a:ext cx="548182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Tickets, die als Ausreisser herausgefiltert wurden, erscheinen in einer separaten Excel-Datei -- transparent und nachvollziehbar.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" y="6720840"/>
            <a:ext cx="1161288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situation-report  |  Flow-Metriken fur agile Teams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64592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371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67E22"/>
                </a:solidFill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801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2C3E50"/>
                </a:solidFill>
              </a:rPr>
              <a:t>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9144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Konfiguration verwalten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566928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Einstellungen sichern und Hilfe finden</a:t>
            </a:r>
          </a:p>
        </p:txBody>
      </p:sp>
      <p:sp>
        <p:nvSpPr>
          <p:cNvPr id="9" name="Rectangle 8"/>
          <p:cNvSpPr/>
          <p:nvPr/>
        </p:nvSpPr>
        <p:spPr>
          <a:xfrm>
            <a:off x="9326880" y="228600"/>
            <a:ext cx="26060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72600" y="246888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67E22"/>
                </a:solidFill>
              </a:rPr>
              <a:t>Modul: beide Module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" y="1143000"/>
            <a:ext cx="2148840" cy="438912"/>
          </a:xfrm>
          <a:prstGeom prst="roundRect">
            <a:avLst>
              <a:gd name="adj" fmla="val 30000"/>
            </a:avLst>
          </a:prstGeom>
          <a:solidFill>
            <a:srgbClr val="CCD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1197864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EA8B3"/>
                </a:solidFill>
              </a:rPr>
              <a:t>1  Daten bereitstellen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34640" y="1143000"/>
            <a:ext cx="2148840" cy="438912"/>
          </a:xfrm>
          <a:prstGeom prst="roundRect">
            <a:avLst>
              <a:gd name="adj" fmla="val 30000"/>
            </a:avLst>
          </a:prstGeom>
          <a:solidFill>
            <a:srgbClr val="CCD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0360" y="1197864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EA8B3"/>
                </a:solidFill>
              </a:rPr>
              <a:t>2  Analyse einrichten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0056" y="1143000"/>
            <a:ext cx="2148840" cy="438912"/>
          </a:xfrm>
          <a:prstGeom prst="roundRect">
            <a:avLst>
              <a:gd name="adj" fmla="val 30000"/>
            </a:avLst>
          </a:prstGeom>
          <a:solidFill>
            <a:srgbClr val="CCD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65776" y="1197864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EA8B3"/>
                </a:solidFill>
              </a:rPr>
              <a:t>3  Metriken berechnen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05472" y="1143000"/>
            <a:ext cx="2148840" cy="438912"/>
          </a:xfrm>
          <a:prstGeom prst="roundRect">
            <a:avLst>
              <a:gd name="adj" fmla="val 30000"/>
            </a:avLst>
          </a:prstGeom>
          <a:solidFill>
            <a:srgbClr val="CCD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51192" y="1197864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EA8B3"/>
                </a:solidFill>
              </a:rPr>
              <a:t>4  Ergebnisse teilen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90888" y="1143000"/>
            <a:ext cx="2148840" cy="438912"/>
          </a:xfrm>
          <a:prstGeom prst="roundRect">
            <a:avLst>
              <a:gd name="adj" fmla="val 30000"/>
            </a:avLst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36608" y="1197864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5  Konfiguration verwalten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1783080"/>
            <a:ext cx="3742943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1783080"/>
            <a:ext cx="64008" cy="1417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79" y="1874519"/>
            <a:ext cx="35417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67E22"/>
                </a:solidFill>
              </a:rPr>
              <a:t>Einstellungen als Template sichern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79" y="2176272"/>
            <a:ext cx="354177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Alle Filter, Dateipfade und Optionen in einer JSON-Datei speichern und beim nachsten Mal mit einem Klick wieder laden.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54423" y="1783080"/>
            <a:ext cx="3742943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54423" y="1783080"/>
            <a:ext cx="64008" cy="1417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91584" y="1874519"/>
            <a:ext cx="35417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67E22"/>
                </a:solidFill>
              </a:rPr>
              <a:t>Ausschlusse als Standard hinterlegen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1584" y="2176272"/>
            <a:ext cx="354177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Haufig genutzte Ausschluss-Regeln dauerhaft speichern -- kein erneutes Eintippen bei jedem Start.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34528" y="1783080"/>
            <a:ext cx="3742943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34528" y="1783080"/>
            <a:ext cx="64008" cy="1417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71688" y="1874519"/>
            <a:ext cx="35417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67E22"/>
                </a:solidFill>
              </a:rPr>
              <a:t>Sprache wahlen (DE / EN / RO / PT / FR)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71688" y="2176272"/>
            <a:ext cx="354177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Launcher in 5 Sprachen nutzbar; build_reports und transform_data auf Deutsch oder Englisch. Die gewunschte Sprache wird beim nachsten Start beibehalten.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3291840"/>
            <a:ext cx="3742943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74320" y="3291840"/>
            <a:ext cx="64008" cy="1417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79" y="3383280"/>
            <a:ext cx="35417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67E22"/>
                </a:solidFill>
              </a:rPr>
              <a:t>Terminologie anpassen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79" y="3685032"/>
            <a:ext cx="354177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SAFe-Begriffe (Flow Time, Flow Velocity ...) oder globale Begriffe (Cycle Time, Throughput ...) -- je nach Teamkonvention.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54423" y="3291840"/>
            <a:ext cx="3742943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54423" y="3291840"/>
            <a:ext cx="64008" cy="1417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91584" y="3383280"/>
            <a:ext cx="35417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67E22"/>
                </a:solidFill>
              </a:rPr>
              <a:t>Benutzerhandbuch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91584" y="3685032"/>
            <a:ext cx="354177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PDF-Handbuch: Launcher in 5 Sprachen (DE, EN, RO, PT, FR), build_reports und transform_data je DE + EN -- direkt aus dem Hilfemenu abrufbar.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4320" y="6720840"/>
            <a:ext cx="1161288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situation-report  |  Flow-Metriken fur agile Teams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