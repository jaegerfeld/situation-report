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0"/>
            <a:ext cx="115516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</a:rPr>
              <a:t>SituationReport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377440"/>
            <a:ext cx="11551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CF0F1"/>
                </a:solidFill>
              </a:rPr>
              <a:t>Transparenz über den Entwicklungsfortschritt in Ihrer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0560" y="2880360"/>
            <a:ext cx="320040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29260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Für Führungskräfte in der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400800"/>
            <a:ext cx="115516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</a:rPr>
              <a:t>Version 0.9.0  ·  Mai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516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Was wissen wir wirklich über unsere Lieferfähigkeit?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325880"/>
            <a:ext cx="7132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2C3E50"/>
                </a:solidFill>
              </a:rPr>
              <a:t>● Wie lange dauert es im Durchschnitt, bis eine Aufgabe erledigt ist?</a:t>
            </a:r>
          </a:p>
          <a:p>
            <a:pPr algn="l">
              <a:spcBef>
                <a:spcPts val="800"/>
              </a:spcBef>
            </a:pPr>
            <a:r>
              <a:rPr sz="1600">
                <a:solidFill>
                  <a:srgbClr val="2C3E50"/>
                </a:solidFill>
              </a:rPr>
              <a:t>● Wie viele Aufgaben liefert das Team pro Woche — und wird es mehr oder weniger?</a:t>
            </a:r>
          </a:p>
          <a:p>
            <a:pPr algn="l">
              <a:spcBef>
                <a:spcPts val="800"/>
              </a:spcBef>
            </a:pPr>
            <a:r>
              <a:rPr sz="1600">
                <a:solidFill>
                  <a:srgbClr val="2C3E50"/>
                </a:solidFill>
              </a:rPr>
              <a:t>● Wie viele Aufgaben sind gleichzeitig in Bearbeitung?</a:t>
            </a:r>
          </a:p>
          <a:p>
            <a:pPr algn="l">
              <a:spcBef>
                <a:spcPts val="800"/>
              </a:spcBef>
            </a:pPr>
            <a:r>
              <a:rPr sz="1600">
                <a:solidFill>
                  <a:srgbClr val="2C3E50"/>
                </a:solidFill>
              </a:rPr>
              <a:t>● Wo entstehen Engpässe im Entwicklungsprozess?</a:t>
            </a:r>
          </a:p>
          <a:p>
            <a:pPr algn="l">
              <a:spcBef>
                <a:spcPts val="800"/>
              </a:spcBef>
            </a:pPr>
            <a:r>
              <a:rPr sz="1600">
                <a:solidFill>
                  <a:srgbClr val="2C3E50"/>
                </a:solidFill>
              </a:rPr>
              <a:t>● Wie vorhersagbar sind unsere Liefertermine?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0" y="1325880"/>
            <a:ext cx="4023360" cy="38404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1554480"/>
            <a:ext cx="37490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Ohne Messung
keine Antworten.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2834640"/>
            <a:ext cx="37490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CF0F1"/>
                </a:solidFill>
              </a:rPr>
              <a:t>Jira enthält alle Daten — aber sie werden selten systematisch ausgewertet. SituationReport macht diese Daten in Minuten sichtbar.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516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SituationReport — Kennzahlen direkt aus Jira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3258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</a:rPr>
              <a:t>Was es ist: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664208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2C3E50"/>
                </a:solidFill>
              </a:rPr>
              <a:t>● Eine lokale Werkzeugsammlung, die Jira-Exportdaten auswertet</a:t>
            </a:r>
          </a:p>
          <a:p>
            <a:pPr algn="l">
              <a:spcBef>
                <a:spcPts val="500"/>
              </a:spcBef>
            </a:pPr>
            <a:r>
              <a:rPr sz="1400">
                <a:solidFill>
                  <a:srgbClr val="2C3E50"/>
                </a:solidFill>
              </a:rPr>
              <a:t>● Erzeugt interaktive Diagramme und PDF-Berichte</a:t>
            </a:r>
          </a:p>
          <a:p>
            <a:pPr algn="l">
              <a:spcBef>
                <a:spcPts val="500"/>
              </a:spcBef>
            </a:pPr>
            <a:r>
              <a:rPr sz="1400">
                <a:solidFill>
                  <a:srgbClr val="2C3E50"/>
                </a:solidFill>
              </a:rPr>
              <a:t>● Keine Jira-Verbindung zur Laufzeit — einmaliger Export genügt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31546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</a:rPr>
              <a:t>Vier entscheidende Eigenschaften: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3520440"/>
            <a:ext cx="2743200" cy="4114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3575304"/>
            <a:ext cx="2578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🔒  Lokal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3931920"/>
            <a:ext cx="2743200" cy="960120"/>
          </a:xfrm>
          <a:prstGeom prst="rect">
            <a:avLst/>
          </a:prstGeom>
          <a:solidFill>
            <a:srgbClr val="ECF0F1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4005072"/>
            <a:ext cx="257860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Läuft ausschließlich auf dem
eigenen Computer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2743200" cy="41148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3575304"/>
            <a:ext cx="2578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☁ Keine Cloud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3931920"/>
            <a:ext cx="2743200" cy="960120"/>
          </a:xfrm>
          <a:prstGeom prst="rect">
            <a:avLst/>
          </a:prstGeom>
          <a:solidFill>
            <a:srgbClr val="ECF0F1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4005072"/>
            <a:ext cx="257860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Keine Daten verlassen
das Unternehmen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59" y="3520440"/>
            <a:ext cx="27432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199" y="3575304"/>
            <a:ext cx="2578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🆓  Kostenlos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59" y="3931920"/>
            <a:ext cx="2743200" cy="960120"/>
          </a:xfrm>
          <a:prstGeom prst="rect">
            <a:avLst/>
          </a:prstGeom>
          <a:solidFill>
            <a:srgbClr val="ECF0F1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199" y="4005072"/>
            <a:ext cx="257860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Open Source, BSD-Lizenz,
kein Abo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19" y="3520440"/>
            <a:ext cx="274320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3575304"/>
            <a:ext cx="2578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📊  Sofort nutzbar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19" y="3931920"/>
            <a:ext cx="2743200" cy="960120"/>
          </a:xfrm>
          <a:prstGeom prst="rect">
            <a:avLst/>
          </a:prstGeom>
          <a:solidFill>
            <a:srgbClr val="ECF0F1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59" y="4005072"/>
            <a:ext cx="257860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Download, entpacken,
starten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516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Drei Schritte — vom Export zum Bericht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371600"/>
            <a:ext cx="3657600" cy="15544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938528"/>
            <a:ext cx="3456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Jira exportieren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2331720"/>
            <a:ext cx="3456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CF0F1"/>
                </a:solidFill>
              </a:rPr>
              <a:t>Jira-Board als JSON-Datei exportieren. Bei großen Projekten ggf. mehrere Dateien — der Helper fügt sie zusammen.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79" y="192024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C3E50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9" y="1371600"/>
            <a:ext cx="3657600" cy="155448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1688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1938528"/>
            <a:ext cx="3456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Transform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2331720"/>
            <a:ext cx="3456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CF0F1"/>
                </a:solidFill>
              </a:rPr>
              <a:t>Die Exportdatei einlesen. Das Tool berechnet, wie viel Zeit jede Aufgabe in welcher Bearbeitungsphase verbracht hat.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192024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C3E50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1371600"/>
            <a:ext cx="3657600" cy="1554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7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7" y="1938528"/>
            <a:ext cx="3456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Build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7" y="2331720"/>
            <a:ext cx="3456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CF0F1"/>
                </a:solidFill>
              </a:rPr>
              <a:t>Mit einem Klick werden alle Kennzahlen als interaktive Diagramme im Browser angezeigt oder als PDF exportiert.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063240"/>
            <a:ext cx="11551615" cy="54864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200400"/>
            <a:ext cx="115516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</a:rPr>
              <a:t>Keine Installation von Abhängigkeiten nötig — das portable Paket enthält alles.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516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Vier Kernfragen — vier Metriken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325880"/>
            <a:ext cx="5669280" cy="4114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380744"/>
            <a:ext cx="5504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Flow Time  /  Cycle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737360"/>
            <a:ext cx="5669280" cy="1965960"/>
          </a:xfrm>
          <a:prstGeom prst="rect">
            <a:avLst/>
          </a:prstGeom>
          <a:solidFill>
            <a:srgbClr val="ECF0F1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810512"/>
            <a:ext cx="5504688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Wie lange dauert eine Aufgabe?
Von Bearbeitungsbeginn bis Abschluss. Zeigt Vorhersagbarkeit und Engpässe.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25880"/>
            <a:ext cx="5669280" cy="41148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380744"/>
            <a:ext cx="5504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Flow Velocity  /  Throughput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737360"/>
            <a:ext cx="5669280" cy="1965960"/>
          </a:xfrm>
          <a:prstGeom prst="rect">
            <a:avLst/>
          </a:prstGeom>
          <a:solidFill>
            <a:srgbClr val="ECF0F1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810512"/>
            <a:ext cx="5504688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Wie viele Aufgaben werden fertig?
Pro Tag, Woche und Planning Interval. Zeigt Kapazität und Trends.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931920"/>
            <a:ext cx="566928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3986783"/>
            <a:ext cx="5504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Flow Load  /  WIP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343400"/>
            <a:ext cx="5669280" cy="1965960"/>
          </a:xfrm>
          <a:prstGeom prst="rect">
            <a:avLst/>
          </a:prstGeom>
          <a:solidFill>
            <a:srgbClr val="ECF0F1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4416552"/>
            <a:ext cx="5504688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Was ist gerade in Bearbeitung?
Aktuelle Aufgaben pro Phase, mit Alter. Zeigt Überlast und Blockierungen.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931920"/>
            <a:ext cx="566928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3986783"/>
            <a:ext cx="5504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Cumulative Flow Diagram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343400"/>
            <a:ext cx="5669280" cy="1965960"/>
          </a:xfrm>
          <a:prstGeom prst="rect">
            <a:avLst/>
          </a:prstGeom>
          <a:solidFill>
            <a:srgbClr val="ECF0F1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4416552"/>
            <a:ext cx="5504688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Wie fließt die Arbeit durchs System?
Zeigt Engpässe, Warteschlagen und ob In-flow und Out-flow im Gleichgewicht sind.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516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Heute verfügbar — Version 0.9.0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280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</a:rPr>
              <a:t>Verfügbare Module: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691640"/>
            <a:ext cx="7315200" cy="502920"/>
          </a:xfrm>
          <a:prstGeom prst="rect">
            <a:avLst/>
          </a:prstGeom>
          <a:solidFill>
            <a:srgbClr val="ECF0F1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79" y="1773936"/>
            <a:ext cx="822960" cy="33832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199" y="181051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BETA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176479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3E50"/>
                </a:solidFill>
              </a:rPr>
              <a:t>Transform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7830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Jira-Rohdaten aufbereiten — Kernmodul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313432"/>
            <a:ext cx="7315200" cy="502920"/>
          </a:xfrm>
          <a:prstGeom prst="rect">
            <a:avLst/>
          </a:prstGeom>
          <a:solidFill>
            <a:srgbClr val="ECF0F1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79" y="2395728"/>
            <a:ext cx="822960" cy="33832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" y="243230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BETA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238658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3E50"/>
                </a:solidFill>
              </a:rPr>
              <a:t>Build Reports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40487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Flow-Metriken und PDF-Berichte — Kernmodul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935224"/>
            <a:ext cx="7315200" cy="502920"/>
          </a:xfrm>
          <a:prstGeom prst="rect">
            <a:avLst/>
          </a:prstGeom>
          <a:solidFill>
            <a:srgbClr val="ECF0F1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79" y="3017520"/>
            <a:ext cx="822960" cy="33832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" y="305409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ALPHA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300837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3E50"/>
                </a:solidFill>
              </a:rPr>
              <a:t>Helper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302666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Mehrere JSON-Exporte zusammenführen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557016"/>
            <a:ext cx="7315200" cy="502920"/>
          </a:xfrm>
          <a:prstGeom prst="rect">
            <a:avLst/>
          </a:prstGeom>
          <a:solidFill>
            <a:srgbClr val="ECF0F1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79" y="3639312"/>
            <a:ext cx="822960" cy="33832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199" y="3675887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ALPHA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363016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3E50"/>
                </a:solidFill>
              </a:rPr>
              <a:t>Testdata Generator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364845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Synthetische Testdaten erzeugen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297680"/>
            <a:ext cx="11551615" cy="54864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443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</a:rPr>
              <a:t>Plattformen: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4800600"/>
            <a:ext cx="1155161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C3E50"/>
                </a:solidFill>
              </a:rPr>
              <a:t>● Windows (ZIP, enthält Python &amp; Chrome — keine Installation nötig)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</a:rPr>
              <a:t>● macOS Apple Silicon (ZIP, Python-Umgebung wird beim ersten Start eingerichtet)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</a:rPr>
              <a:t>● Linux x64 (ZIP, Python-Umgebung wird beim ersten Start eingerichtet)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516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Roadmap — Was noch kommt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325880"/>
            <a:ext cx="11551615" cy="54864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463040"/>
            <a:ext cx="3749039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50876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Jetzt verfügbar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201168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3E50"/>
                </a:solidFill>
              </a:rPr>
              <a:t>● Transform Data  [BETA]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2C3E50"/>
                </a:solidFill>
              </a:rPr>
              <a:t>● Build Reports  [BETA]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2C3E50"/>
                </a:solidFill>
              </a:rPr>
              <a:t>● Helper  [ALPHA]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2C3E50"/>
                </a:solidFill>
              </a:rPr>
              <a:t>● Testdata Generator  [ALPHA]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59" y="1463040"/>
            <a:ext cx="3749039" cy="4754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50876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Als nächstes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201168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3E50"/>
                </a:solidFill>
              </a:rPr>
              <a:t>● Get Data  — Direktabruf aus Jira
(kein manueller Export mehr nötig)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463040"/>
            <a:ext cx="3749039" cy="4754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7" y="150876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Mittelfristig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7" y="201168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3E50"/>
                </a:solidFill>
              </a:rPr>
              <a:t>● Simulate  — Prognosen und Forecasting
(Wann sind wir fertig? Wahrscheinlichkeits-basiert)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516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Jetzt starten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325880"/>
            <a:ext cx="5669280" cy="4114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380744"/>
            <a:ext cx="5504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⬇  Herunterladen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737360"/>
            <a:ext cx="5669280" cy="1874519"/>
          </a:xfrm>
          <a:prstGeom prst="rect">
            <a:avLst/>
          </a:prstGeom>
          <a:solidFill>
            <a:srgbClr val="ECF0F1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810512"/>
            <a:ext cx="5504688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github.com/Jaegerfeld/situation-report/releases
→ Neueste stabile Version als ZIP herunterladen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25880"/>
            <a:ext cx="5669280" cy="41148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380744"/>
            <a:ext cx="5504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🧪  Ausprobieren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737360"/>
            <a:ext cx="5669280" cy="1874519"/>
          </a:xfrm>
          <a:prstGeom prst="rect">
            <a:avLst/>
          </a:prstGeom>
          <a:solidFill>
            <a:srgbClr val="ECF0F1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810512"/>
            <a:ext cx="5504688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Testdata Generator starten → synthetische Daten erzeugen
→ Transform Data → Build Reports
Keine echten Daten nötig für den ersten Test.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840480"/>
            <a:ext cx="566928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3895344"/>
            <a:ext cx="5504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📂  Mit eigenen Daten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251960"/>
            <a:ext cx="5669280" cy="1874519"/>
          </a:xfrm>
          <a:prstGeom prst="rect">
            <a:avLst/>
          </a:prstGeom>
          <a:solidFill>
            <a:srgbClr val="ECF0F1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4325112"/>
            <a:ext cx="5504688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Jira-Board als JSON exportieren
→ Workflow-Datei erstellen (Stationen definieren)
→ Transform Data → Build Reports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840480"/>
            <a:ext cx="566928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3895344"/>
            <a:ext cx="5504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💬  Feedback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251960"/>
            <a:ext cx="5669280" cy="1874519"/>
          </a:xfrm>
          <a:prstGeom prst="rect">
            <a:avLst/>
          </a:prstGeom>
          <a:solidFill>
            <a:srgbClr val="ECF0F1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4325112"/>
            <a:ext cx="5504688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github.com/Jaegerfeld/situation-report/issues
Fehler melden, Wünsche äußern, Beitrag leisten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